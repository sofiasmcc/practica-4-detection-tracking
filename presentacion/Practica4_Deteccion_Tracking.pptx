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429beb74-1da3-91cc-8406-d8e025e51f16}">
          <p14:sldIdLst>
            <p14:sldId id="256"/>
            <p14:sldId id="257"/>
            <p14:sldId id="258"/>
            <p14:sldId id="259"/>
          </p14:sldIdLst>
        </p14:section>
        <p14:section name="Metodología" id="{0987b2a4-5fdc-4cb6-ba01-3fceb3958d3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Evaluación" id="{3e20fbe8-19e4-f710-edbb-4acf42a7e4b0}">
          <p14:sldIdLst>
            <p14:sldId id="275"/>
          </p14:sldIdLst>
        </p14:section>
        <p14:section name="Resultados" id="{e4e24129-f9bf-d578-c230-eacd2bbd71c7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ierre" id="{08e1e82d-8587-0c77-4952-2ca829cf9285}">
          <p14:sldIdLst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Calibri"/>
              </a:rPr>
              <a:t>Frames por secuencia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Frames</c:v>
                </c:pt>
              </c:strCache>
            </c:strRef>
          </c:tx>
          <c:spPr>
            <a:solidFill>
              <a:srgbClr val="A9C4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1007</c:v>
                </c:pt>
                <c:pt idx="1">
                  <c:v>646</c:v>
                </c:pt>
                <c:pt idx="2">
                  <c:v>265</c:v>
                </c:pt>
                <c:pt idx="3">
                  <c:v>1576</c:v>
                </c:pt>
                <c:pt idx="4">
                  <c:v>514</c:v>
                </c:pt>
                <c:pt idx="5">
                  <c:v>372</c:v>
                </c:pt>
                <c:pt idx="6">
                  <c:v>480</c:v>
                </c:pt>
                <c:pt idx="7">
                  <c:v>1374</c:v>
                </c:pt>
                <c:pt idx="8">
                  <c:v>1308</c:v>
                </c:pt>
                <c:pt idx="9">
                  <c:v>298</c:v>
                </c:pt>
                <c:pt idx="10">
                  <c:v>1101</c:v>
                </c:pt>
                <c:pt idx="11">
                  <c:v>1859</c:v>
                </c:pt>
                <c:pt idx="12">
                  <c:v>269</c:v>
                </c:pt>
                <c:pt idx="13">
                  <c:v>659</c:v>
                </c:pt>
                <c:pt idx="14">
                  <c:v>604</c:v>
                </c:pt>
                <c:pt idx="15">
                  <c:v>864</c:v>
                </c:pt>
                <c:pt idx="16">
                  <c:v>1182</c:v>
                </c:pt>
                <c:pt idx="17">
                  <c:v>719</c:v>
                </c:pt>
                <c:pt idx="18">
                  <c:v>445</c:v>
                </c:pt>
                <c:pt idx="19">
                  <c:v>1050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5400000"/>
          <a:lstStyle/>
          <a:p>
            <a:pPr>
              <a:defRPr sz="8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Calibri"/>
              </a:rPr>
              <a:t>Vehículos anotados por frame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Vehículos por frame</c:v>
                </c:pt>
              </c:strCache>
            </c:strRef>
          </c:tx>
          <c:spPr>
            <a:solidFill>
              <a:srgbClr val="1B3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</c:v>
                </c:pt>
                <c:pt idx="1">
                  <c:v>8.1</c:v>
                </c:pt>
                <c:pt idx="2">
                  <c:v>3</c:v>
                </c:pt>
                <c:pt idx="3">
                  <c:v>10</c:v>
                </c:pt>
                <c:pt idx="4">
                  <c:v>59</c:v>
                </c:pt>
                <c:pt idx="5">
                  <c:v>27.6</c:v>
                </c:pt>
                <c:pt idx="6">
                  <c:v>37.8</c:v>
                </c:pt>
                <c:pt idx="7">
                  <c:v>12.7</c:v>
                </c:pt>
                <c:pt idx="8">
                  <c:v>57.7</c:v>
                </c:pt>
                <c:pt idx="9">
                  <c:v>13.3</c:v>
                </c:pt>
                <c:pt idx="10">
                  <c:v>27.7</c:v>
                </c:pt>
                <c:pt idx="11">
                  <c:v>10.5</c:v>
                </c:pt>
                <c:pt idx="12">
                  <c:v>18.2</c:v>
                </c:pt>
                <c:pt idx="13">
                  <c:v>6.8</c:v>
                </c:pt>
                <c:pt idx="14">
                  <c:v>16.9</c:v>
                </c:pt>
                <c:pt idx="15">
                  <c:v>8.9</c:v>
                </c:pt>
                <c:pt idx="16">
                  <c:v>31.9</c:v>
                </c:pt>
                <c:pt idx="17">
                  <c:v>28</c:v>
                </c:pt>
                <c:pt idx="18">
                  <c:v>22.8</c:v>
                </c:pt>
                <c:pt idx="19">
                  <c:v>12.7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5400000"/>
          <a:lstStyle/>
          <a:p>
            <a:pPr>
              <a:defRPr sz="8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YOLOv11 + SORT</c:v>
                </c:pt>
              </c:strCache>
            </c:strRef>
          </c:tx>
          <c:spPr>
            <a:solidFill>
              <a:srgbClr val="A9C4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0.6709715875223525</c:v>
                </c:pt>
                <c:pt idx="1">
                  <c:v>0.8095420578654915</c:v>
                </c:pt>
                <c:pt idx="2">
                  <c:v>0.6033163265306123</c:v>
                </c:pt>
                <c:pt idx="3">
                  <c:v>0.14271145388488748</c:v>
                </c:pt>
                <c:pt idx="4">
                  <c:v>0.8944363780359028</c:v>
                </c:pt>
                <c:pt idx="5">
                  <c:v>-0.04321167883211685</c:v>
                </c:pt>
                <c:pt idx="6">
                  <c:v>0.17385073310550103</c:v>
                </c:pt>
                <c:pt idx="7">
                  <c:v>0.7073978863181948</c:v>
                </c:pt>
                <c:pt idx="8">
                  <c:v>0.3202142895029969</c:v>
                </c:pt>
                <c:pt idx="9">
                  <c:v>0.786992689689942</c:v>
                </c:pt>
                <c:pt idx="10">
                  <c:v>0.7229081382020632</c:v>
                </c:pt>
                <c:pt idx="11">
                  <c:v>0.6585303317778575</c:v>
                </c:pt>
                <c:pt idx="12">
                  <c:v>0.43155310006138736</c:v>
                </c:pt>
                <c:pt idx="13">
                  <c:v>-0.11786903440621521</c:v>
                </c:pt>
                <c:pt idx="14">
                  <c:v>0.716302323301637</c:v>
                </c:pt>
                <c:pt idx="15">
                  <c:v>-0.027676715176715216</c:v>
                </c:pt>
                <c:pt idx="16">
                  <c:v>0.7017464699012634</c:v>
                </c:pt>
                <c:pt idx="17">
                  <c:v>0.2585402184707051</c:v>
                </c:pt>
                <c:pt idx="18">
                  <c:v>0.6996748448122968</c:v>
                </c:pt>
                <c:pt idx="19">
                  <c:v>0.44174318831853077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YOLO26 + ByteTrack</c:v>
                </c:pt>
              </c:strCache>
            </c:strRef>
          </c:tx>
          <c:spPr>
            <a:solidFill>
              <a:srgbClr val="1B3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0.7585932843234651</c:v>
                </c:pt>
                <c:pt idx="1">
                  <c:v>0.8265951331672734</c:v>
                </c:pt>
                <c:pt idx="2">
                  <c:v>0.4770408163265306</c:v>
                </c:pt>
                <c:pt idx="3">
                  <c:v>0.2950474854993945</c:v>
                </c:pt>
                <c:pt idx="4">
                  <c:v>0.8986932418162619</c:v>
                </c:pt>
                <c:pt idx="5">
                  <c:v>0.050900243309002446</c:v>
                </c:pt>
                <c:pt idx="6">
                  <c:v>0.18300077169000106</c:v>
                </c:pt>
                <c:pt idx="7">
                  <c:v>0.5834904313053413</c:v>
                </c:pt>
                <c:pt idx="8">
                  <c:v>0.27961067204158485</c:v>
                </c:pt>
                <c:pt idx="9">
                  <c:v>0.8364003024955886</c:v>
                </c:pt>
                <c:pt idx="10">
                  <c:v>0.6497789421974782</c:v>
                </c:pt>
                <c:pt idx="11">
                  <c:v>0.66447874467976</c:v>
                </c:pt>
                <c:pt idx="12">
                  <c:v>0.28729281767955805</c:v>
                </c:pt>
                <c:pt idx="13">
                  <c:v>0.3061043285238624</c:v>
                </c:pt>
                <c:pt idx="14">
                  <c:v>0.7926673855504363</c:v>
                </c:pt>
                <c:pt idx="15">
                  <c:v>-0.13357588357588357</c:v>
                </c:pt>
                <c:pt idx="16">
                  <c:v>0.5877747106911562</c:v>
                </c:pt>
                <c:pt idx="17">
                  <c:v>0.31196623634558096</c:v>
                </c:pt>
                <c:pt idx="18">
                  <c:v>0.843334318652084</c:v>
                </c:pt>
                <c:pt idx="19">
                  <c:v>0.4613879271413518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RT-DETRv4 + BoT-SORT</c:v>
                </c:pt>
              </c:strCache>
            </c:strRef>
          </c:tx>
          <c:spPr>
            <a:solidFill>
              <a:srgbClr val="FFC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0.7252135903039936</c:v>
                </c:pt>
                <c:pt idx="1">
                  <c:v>0.8836941942900939</c:v>
                </c:pt>
                <c:pt idx="2">
                  <c:v>0.3711734693877551</c:v>
                </c:pt>
                <c:pt idx="3">
                  <c:v>0.6048824016827077</c:v>
                </c:pt>
                <c:pt idx="4">
                  <c:v>0.9048970432946146</c:v>
                </c:pt>
                <c:pt idx="5">
                  <c:v>0.09304136253041362</c:v>
                </c:pt>
                <c:pt idx="6">
                  <c:v>0.13465990519237125</c:v>
                </c:pt>
                <c:pt idx="7">
                  <c:v>0.4111396743787489</c:v>
                </c:pt>
                <c:pt idx="8">
                  <c:v>0.21113350660372354</c:v>
                </c:pt>
                <c:pt idx="9">
                  <c:v>0.8732039324426519</c:v>
                </c:pt>
                <c:pt idx="10">
                  <c:v>0.5422302276076634</c:v>
                </c:pt>
                <c:pt idx="11">
                  <c:v>0.3903389569765653</c:v>
                </c:pt>
                <c:pt idx="12">
                  <c:v>0.15060364231634948</c:v>
                </c:pt>
                <c:pt idx="13">
                  <c:v>-0.2583795782463929</c:v>
                </c:pt>
                <c:pt idx="14">
                  <c:v>0.8402117439466719</c:v>
                </c:pt>
                <c:pt idx="15">
                  <c:v>-0.5106548856548856</c:v>
                </c:pt>
                <c:pt idx="16">
                  <c:v>0.5318505149166578</c:v>
                </c:pt>
                <c:pt idx="17">
                  <c:v>0.6756206554121151</c:v>
                </c:pt>
                <c:pt idx="18">
                  <c:v>0.8447137649029461</c:v>
                </c:pt>
                <c:pt idx="19">
                  <c:v>0.30972452205328915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SAHI + YOLO26 + ByteTrack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M0203</c:v>
                  </c:pt>
                  <c:pt idx="1">
                    <c:v>M0205</c:v>
                  </c:pt>
                  <c:pt idx="2">
                    <c:v>M0208</c:v>
                  </c:pt>
                  <c:pt idx="3">
                    <c:v>M0209</c:v>
                  </c:pt>
                  <c:pt idx="4">
                    <c:v>M0403</c:v>
                  </c:pt>
                  <c:pt idx="5">
                    <c:v>M0601</c:v>
                  </c:pt>
                  <c:pt idx="6">
                    <c:v>M0602</c:v>
                  </c:pt>
                  <c:pt idx="7">
                    <c:v>M0606</c:v>
                  </c:pt>
                  <c:pt idx="8">
                    <c:v>M0701</c:v>
                  </c:pt>
                  <c:pt idx="9">
                    <c:v>M0801</c:v>
                  </c:pt>
                  <c:pt idx="10">
                    <c:v>M0802</c:v>
                  </c:pt>
                  <c:pt idx="11">
                    <c:v>M1001</c:v>
                  </c:pt>
                  <c:pt idx="12">
                    <c:v>M1004</c:v>
                  </c:pt>
                  <c:pt idx="13">
                    <c:v>M1007</c:v>
                  </c:pt>
                  <c:pt idx="14">
                    <c:v>M1009</c:v>
                  </c:pt>
                  <c:pt idx="15">
                    <c:v>M1101</c:v>
                  </c:pt>
                  <c:pt idx="16">
                    <c:v>M1301</c:v>
                  </c:pt>
                  <c:pt idx="17">
                    <c:v>M1302</c:v>
                  </c:pt>
                  <c:pt idx="18">
                    <c:v>M1303</c:v>
                  </c:pt>
                  <c:pt idx="19">
                    <c:v>M1401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0.508245579177429</c:v>
                </c:pt>
                <c:pt idx="1">
                  <c:v>0.7401801111324009</c:v>
                </c:pt>
                <c:pt idx="2">
                  <c:v>0.6798469387755102</c:v>
                </c:pt>
                <c:pt idx="3">
                  <c:v>0.31493403021225064</c:v>
                </c:pt>
                <c:pt idx="4">
                  <c:v>0.9035110876451954</c:v>
                </c:pt>
                <c:pt idx="5">
                  <c:v>-0.02034063260340635</c:v>
                </c:pt>
                <c:pt idx="6">
                  <c:v>0.2881159739830228</c:v>
                </c:pt>
                <c:pt idx="7">
                  <c:v>0.6470151385318481</c:v>
                </c:pt>
                <c:pt idx="8">
                  <c:v>0.30214024293215935</c:v>
                </c:pt>
                <c:pt idx="9">
                  <c:v>0.7549785732291404</c:v>
                </c:pt>
                <c:pt idx="10">
                  <c:v>0.6842967086949403</c:v>
                </c:pt>
                <c:pt idx="11">
                  <c:v>0.6535562278857494</c:v>
                </c:pt>
                <c:pt idx="12">
                  <c:v>0.3411090648659709</c:v>
                </c:pt>
                <c:pt idx="13">
                  <c:v>0.11831298557158709</c:v>
                </c:pt>
                <c:pt idx="14">
                  <c:v>0.849426526811097</c:v>
                </c:pt>
                <c:pt idx="15">
                  <c:v>-0.4384095634095635</c:v>
                </c:pt>
                <c:pt idx="16">
                  <c:v>0.5915436882896273</c:v>
                </c:pt>
                <c:pt idx="17">
                  <c:v>0.32442899702085404</c:v>
                </c:pt>
                <c:pt idx="18">
                  <c:v>0.80510395112819</c:v>
                </c:pt>
                <c:pt idx="19">
                  <c:v>0.4101309649254855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5400000"/>
          <a:lstStyle/>
          <a:p>
            <a:pPr>
              <a:defRPr sz="9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Tema: seguimiento multi-objeto de vehículos en video aéreo (UAVDT), separando detección y asociación.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PDF obliga a usar el subset de test de UAVDT: las 20 secuencias de M_attr/test. La vista aérea trae vehículos pequeños, mucha densidad y movimiento de cámara.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pasos desacoplados: primero detección con pesos preentrenados y luego asociación. Medimos t_det y t_trk por separado para analizar el efecto de quitar NMS.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 para el tracking: sin NMS, la latencia de detección es más estable. Con --with_nms medimos la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 es el modelo de velocidad constante; H observa solo [u, v, s, r]. Q y R son las covarianzas del proceso y de la medición.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dron en movimiento desplaza a todos los vehículos a la vez. GMC estima ese desplazamiento global con el fondo y lo resta antes de asociar.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del uso de apariencia: re-identificación y oclusiones largas. Decisión de este trabajo: no activar ReID por costo y por la poca resolución de los vehículos; lo evaluamos comparando contra los métodos geométricos.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frames de 1024x540 y slices de 640 salen solo 2 recuadros, así que el aumento es modesto. Slices más chicos dan más aumento a costa de más inferencias: es un parámetro a ajustar.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MOTA promedio = promedio simple de las 20 secuencias (lo que pide el PDF). La última columna es la estimación sin sesgo: MOTA en las secuencias que no se usaron para ajustar.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MOTA por secuencia de los 4 métodos ajustados. Las secuencias M0403, M0205, M0801 y M1009 salen bien; M1101, M1007, M0601 y M0602 salen mal (noche con destellos y vehículos de ~12 px).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primer ajuste sobre solo 5 secuencias dio MOTA 0,70 ahí y 0,22 en las 15 restantes: sobreajuste. La validación cruzada evita ese espejismo.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20 secuencias, gran altura (2) y vista cenital (4) son medias frágiles. La correlación entre el MOTA y el tamaño mediano del vehículo es +0,48; con la densidad, casi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-I scripts/make_demos.py --method method2_yolo26_bytetrack_cv --seq M0403 --frames 100 130 160 --crop 250 40 750 540 --trail 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 perdía el 78 % de esta secuencia con vehículos de tamaño normal (mediana 36 px): no es un problema de resolución sino de dominio, vista oblicua frente a cenital.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BF7"/>
          </a:solidFill>
          <a:ln w="12700">
            <a:solidFill>
              <a:srgbClr val="E9EBF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" y="4937760"/>
            <a:ext cx="5486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y tracking de vehículos con drones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092440" y="4937760"/>
            <a:ext cx="548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804672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01168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8092440" y="4937760"/>
            <a:ext cx="548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8686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y tracking de vehículos con drones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YOLOv11, YOLO26 y RT-DETR con SORT, ByteTrack y BoT-SORT sobre UAVDT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Quispe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Brigitte Rojas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Garcia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 Salazar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Marcelino Maita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por Computador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12801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dataset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7510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20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y las 4 configuraciones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5603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frente a RT-DETR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32004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Trackers: geometría y apariencia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33502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10912" y="12801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SAHI, fusión y ajuste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663440" y="197510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10912" y="1920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evaluación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261518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10912" y="25603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demos visuales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63440" y="3255264"/>
            <a:ext cx="182880" cy="182880"/>
          </a:xfrm>
          <a:prstGeom prst="ellipse">
            <a:avLst/>
          </a:prstGeom>
          <a:solidFill>
            <a:srgbClr val="1B3A66"/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10912" y="32004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referencias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dataset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68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UAVDT-Benchmark (subset de test)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las 50 secuencias (split oficial)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16 592 frames de 1024 × 540 px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340 906 cajas: car, truck y bus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28803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secuencia trae sus imágenes, un gt.txt con identidades y regiones ignoradas.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7947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Retos de la vista aérea: vehículos de pocos píxeles, alta densidad, cámara en movimiento y oclusiones.</a:t>
            </a:r>
            <a:endParaRPr lang="en-US" sz="1400" dirty="0"/>
          </a:p>
        </p:txBody>
      </p:sp>
      <p:pic>
        <p:nvPicPr>
          <p:cNvPr id="7" name="Image 0" descr="/home/marcelino.maita/courses/deep_learning/practica-4/presentacion/fig/coll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914400"/>
            <a:ext cx="4343400" cy="23042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26280" y="327355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M0203, M0403, M0701 y M1301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 [1]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test: tamaño y densidad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731520"/>
          <a:ext cx="42976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572000" y="731520"/>
          <a:ext cx="42976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365760" y="42062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densidad va de 3,0 vehículos por frame (M0208) a 59,0 (M0403): el tracker se enfrenta a escenas muy distintas.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MOT Challenge y ground truth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solidFill>
            <a:srgbClr val="E9EBF7"/>
          </a:solidFill>
          <a:ln w="12700">
            <a:solidFill>
              <a:srgbClr val="E9EB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&lt;frame&gt;,&lt;id&gt;,&lt;bb_left&gt;,&lt;bb_top&gt;,&lt;bb_width&gt;,&lt;bb_height&gt;,&lt;conf&gt;,&lt;class&gt;,&lt;vis&gt;</a:t>
            </a:r>
            <a:endParaRPr lang="en-US" sz="1200" dirty="0"/>
          </a:p>
        </p:txBody>
      </p:sp>
      <p:pic>
        <p:nvPicPr>
          <p:cNvPr id="5" name="Image 0" descr="/home/marcelino.maita/courses/deep_learning/practica-4/presentacion/fig/gt_fra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502920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200 de M0403. Verde: GT. Rojo: región ignorada.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2801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GT solo usa cajas con score = 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predicciones siguen el mismo formato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class: 1 car, 2 truck, 3 bus; vis = 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descartan las predicciones dentro de regiones ignoradas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Milan et al. [17]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general (1/2): detección y asociación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Frame 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(img######.jpg)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572768" y="146304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47088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92808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Detector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(pesos preentrenados)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4096" y="146304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28416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4136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Detecciones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(x1, y1, x2, y2,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conf, clase)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35424" y="146304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09744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55464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(asociación)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6752" y="146304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91072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 ID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98080" y="146304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0" y="1051560"/>
            <a:ext cx="1207008" cy="822960"/>
          </a:xfrm>
          <a:prstGeom prst="roundRect">
            <a:avLst>
              <a:gd name="adj" fmla="val 13333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18120" y="105156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Archivo MOT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(.txt)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47088" y="1984248"/>
            <a:ext cx="1207008" cy="0"/>
          </a:xfrm>
          <a:prstGeom prst="line">
            <a:avLst/>
          </a:prstGeom>
          <a:noFill/>
          <a:ln w="19050">
            <a:solidFill>
              <a:srgbClr val="1B3A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64208" y="203911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B3A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t_det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9744" y="1984248"/>
            <a:ext cx="1207008" cy="0"/>
          </a:xfrm>
          <a:prstGeom prst="line">
            <a:avLst/>
          </a:prstGeom>
          <a:noFill/>
          <a:ln w="19050">
            <a:solidFill>
              <a:srgbClr val="1B3A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26864" y="203911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B3A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t_trk</a:t>
            </a:r>
            <a:endParaRPr lang="en-US" sz="1200" dirty="0"/>
          </a:p>
        </p:txBody>
      </p:sp>
      <p:pic>
        <p:nvPicPr>
          <p:cNvPr id="24" name="Image 0" descr="f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543" y="2468880"/>
            <a:ext cx="1424914" cy="476681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365760" y="3246120"/>
            <a:ext cx="21031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Archivo MOT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(predicciones)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520440" y="3246120"/>
            <a:ext cx="21031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6616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motmetrics + GT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(IoU ≥ 0,5)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675120" y="3246120"/>
            <a:ext cx="2103120" cy="777240"/>
          </a:xfrm>
          <a:prstGeom prst="roundRect">
            <a:avLst>
              <a:gd name="adj" fmla="val 14118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3246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MOTA · IDF1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IDS · FPS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468880" y="3634740"/>
            <a:ext cx="10515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623560" y="3634740"/>
            <a:ext cx="10515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general (2/2): las cuatro configuraciones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173736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Detector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Tracker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Qué se evalúa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  Baseline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YOLOv11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SORT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Asociación puramente geométrica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 Eficiencia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(sin NMS)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ByteTrack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Latencia sin NMS; uso de detecciones de baja confianza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  Precisión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RT-DETRv4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BoT-SORT + GMC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Atención global y compensación del movimiento de cámara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  Resolución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+ SAHI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ByteTrack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Detección de vehículos muy pequeños por slices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4023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todos los métodos la detección usa pesos preentrenados (sin reentrenar) y la asociación se ejecuta como un paso aparte.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YOLO26: arquitectura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7772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Imagen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1024 × 1024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194560" y="121158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7772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7772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Conv, C3k2, SPPF,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C2PSA (atención en P5)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21158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754880" y="7772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7772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Neck tipo PAN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multiescala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P3 / P4 / P5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121158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49440" y="777240"/>
            <a:ext cx="1828800" cy="868680"/>
          </a:xfrm>
          <a:prstGeom prst="roundRect">
            <a:avLst>
              <a:gd name="adj" fmla="val 12632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95160" y="7772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Cabeza Detect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end-to-end: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caja por objeto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920240"/>
            <a:ext cx="8321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y neck convolucionales; C2PSA añade atención parcial solo en el nivel más profundo (P5)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DFL: la caja se regresa directamente (reg_max = 1), con una cabeza más simple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cabezas al entrenar: uno-a-muchos (top-k = 10) y uno-a-uno (top-k = 1). En inferencia solo la uno-a-uno: sin NMS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ProgLoss y STAL refuerzan las etiquetas positivas de objetos pequeños; optimizador MuSGD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YOLO26-m: ≈ 22 M parámetros y 75 GFLOPs (configuración COCO)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YOLO26 [13]; configuración yolo26.yaml de ultralytics 8.4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RT-DETRv4: arquitectura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777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Imagen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960 × 960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828800" y="121158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103120" y="7772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777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HGNetv2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(S3, S4, S5)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66160" y="121158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40480" y="7772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777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Codificador híbrido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AIFI (atención en S5)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 fusión CNN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0" y="121158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77840" y="7772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777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Decodificador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D-FINE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capas, queries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40880" y="1211580"/>
            <a:ext cx="274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15200" y="7772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60920" y="777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Cajas y clases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(sin NMS)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192024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atiende a todos los demás: contexto global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decodificador usa queries aprendidas; cada una predice un objeto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con emparejamiento húngaro uno-a-uno: sin duplicados, sin NMS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RT-DETRv4 destila un modelo de visión fundacional (DSI y GAM) solo al entrenar; la inferencia no cambia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(Vaswani et al. [9])</a:t>
            </a:r>
            <a:endParaRPr lang="en-US" sz="1400" dirty="0"/>
          </a:p>
        </p:txBody>
      </p:sp>
      <p:pic>
        <p:nvPicPr>
          <p:cNvPr id="19" name="Image 0" descr="att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286000"/>
            <a:ext cx="3570088" cy="60350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2120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Emparejamiento uno-a-uno (DETR [8])</a:t>
            </a:r>
            <a:endParaRPr lang="en-US" sz="1400" dirty="0"/>
          </a:p>
        </p:txBody>
      </p:sp>
      <p:pic>
        <p:nvPicPr>
          <p:cNvPr id="21" name="Image 1" descr="m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520440"/>
            <a:ext cx="3270534" cy="52733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RT-DETR [10], D-FINE [11], RT-DETRv4 [12]; configuración config.yaml de los pesos VisDrone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frente a RT-DETR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201168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YOLOv11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RT-DETRv4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Entrenado en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UAVDT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UAVDT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VisDrone [14]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Atención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C2PSA (solo P5)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C2PSA (solo P5)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AIFI en S5 y cross-attention sobre 3 escalas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Predicción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Cuadrícula densa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Cuadrícula densa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Queries aprendidas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Duplicados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Uno-a-uno, sin NMS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Húngaro, sin NMS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Regresión de caja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 DFL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Directa (sin DFL)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Distribución refinada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1024 px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1024 px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 px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39776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a contrastar en los resultados: STAL (YOLO26) ayuda con objetos pequeños; la atención global de RT-DETR ayuda con contexto y oclusiones.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RT-DETR usa 10 clases de VisDrone: car y van pasan a car, truck a truck y bus a bus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Asociación: IoU y asignación óptima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entre cajas</a:t>
            </a:r>
            <a:endParaRPr lang="en-US" sz="1400" dirty="0"/>
          </a:p>
        </p:txBody>
      </p:sp>
      <p:pic>
        <p:nvPicPr>
          <p:cNvPr id="4" name="Image 0" descr="i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2276518" cy="6772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entre la caja predicha b̂ᵢ del track i y la detección dⱼ</a:t>
            </a:r>
            <a:endParaRPr lang="en-US" sz="1400" dirty="0"/>
          </a:p>
        </p:txBody>
      </p:sp>
      <p:pic>
        <p:nvPicPr>
          <p:cNvPr id="6" name="Image 1" descr="c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0"/>
            <a:ext cx="2072670" cy="35049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834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óptima (algoritmo húngaro [3])</a:t>
            </a:r>
            <a:endParaRPr lang="en-US" sz="1400" dirty="0"/>
          </a:p>
        </p:txBody>
      </p:sp>
      <p:pic>
        <p:nvPicPr>
          <p:cNvPr id="8" name="Image 2" descr="hungari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154680"/>
            <a:ext cx="5123045" cy="616882"/>
          </a:xfrm>
          <a:prstGeom prst="rect">
            <a:avLst/>
          </a:prstGeom>
        </p:spPr>
      </p:pic>
      <p:pic>
        <p:nvPicPr>
          <p:cNvPr id="9" name="Image 3" descr="accep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77640"/>
            <a:ext cx="3511296" cy="35049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943600" y="914400"/>
            <a:ext cx="1554480" cy="1097280"/>
          </a:xfrm>
          <a:prstGeom prst="rect">
            <a:avLst/>
          </a:prstGeom>
          <a:solidFill>
            <a:srgbClr val="FFC04D">
              <a:alpha val="75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766560" y="1417320"/>
            <a:ext cx="1554480" cy="1097280"/>
          </a:xfrm>
          <a:prstGeom prst="rect">
            <a:avLst/>
          </a:prstGeom>
          <a:solidFill>
            <a:srgbClr val="A9C4E4">
              <a:alpha val="75000"/>
            </a:srgbClr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6766560" y="1417320"/>
            <a:ext cx="731520" cy="594360"/>
          </a:xfrm>
          <a:prstGeom prst="rect">
            <a:avLst/>
          </a:prstGeom>
          <a:solidFill>
            <a:srgbClr val="1B3A66">
              <a:alpha val="85000"/>
            </a:srgbClr>
          </a:solidFill>
          <a:ln w="12700">
            <a:solidFill>
              <a:srgbClr val="1B3A6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6035040" y="960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8001000" y="2194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766560" y="141732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∩ B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5852160" y="283464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SORT, ByteTrack y BoT-SORT comparten esta asociación; cambian la caja predicha b̂ y qué detecciones participan.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Kuhn [3]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SORT: filtro de Kalman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04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track</a:t>
            </a:r>
            <a:endParaRPr lang="en-US" sz="1400" dirty="0"/>
          </a:p>
        </p:txBody>
      </p:sp>
      <p:pic>
        <p:nvPicPr>
          <p:cNvPr id="4" name="Image 0" descr="ks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63342" cy="31391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400" dirty="0"/>
          </a:p>
        </p:txBody>
      </p:sp>
      <p:pic>
        <p:nvPicPr>
          <p:cNvPr id="6" name="Image 1" descr="kpre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47088"/>
            <a:ext cx="2020824" cy="307878"/>
          </a:xfrm>
          <a:prstGeom prst="rect">
            <a:avLst/>
          </a:prstGeom>
        </p:spPr>
      </p:pic>
      <p:pic>
        <p:nvPicPr>
          <p:cNvPr id="7" name="Image 2" descr="kpre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828800"/>
            <a:ext cx="2929098" cy="33832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con la detección zₖ</a:t>
            </a:r>
            <a:endParaRPr lang="en-US" sz="1400" dirty="0"/>
          </a:p>
        </p:txBody>
      </p:sp>
      <p:pic>
        <p:nvPicPr>
          <p:cNvPr id="9" name="Image 3" descr="kg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2670048"/>
            <a:ext cx="3864894" cy="338328"/>
          </a:xfrm>
          <a:prstGeom prst="rect">
            <a:avLst/>
          </a:prstGeom>
        </p:spPr>
      </p:pic>
      <p:pic>
        <p:nvPicPr>
          <p:cNvPr id="10" name="Image 4" descr="kupd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108960"/>
            <a:ext cx="3401568" cy="310896"/>
          </a:xfrm>
          <a:prstGeom prst="rect">
            <a:avLst/>
          </a:prstGeom>
        </p:spPr>
      </p:pic>
      <p:pic>
        <p:nvPicPr>
          <p:cNvPr id="11" name="Image 5" descr="kupd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108960"/>
            <a:ext cx="2398746" cy="310896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36576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detección, el track solo predice. Muere tras max_age = 30 frames sin pareja y se confirma con min_hits = 3.</a:t>
            </a:r>
            <a:endParaRPr lang="en-US" sz="1300" dirty="0"/>
          </a:p>
        </p:txBody>
      </p:sp>
      <p:sp>
        <p:nvSpPr>
          <p:cNvPr id="13" name="Text 5"/>
          <p:cNvSpPr txBox="1"/>
          <p:nvPr/>
        </p:nvSpPr>
        <p:spPr>
          <a:xfrm>
            <a:off x="6126480" y="1097280"/>
            <a:ext cx="2697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Asociación: IoU + húngaro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un track con cada detección sin pareja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geometría: ni apariencia ni cámara</a:t>
            </a:r>
            <a:endParaRPr lang="en-US" sz="1300" dirty="0"/>
          </a:p>
        </p:txBody>
      </p:sp>
      <p:sp>
        <p:nvSpPr>
          <p:cNvPr id="14" name="Text 6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Bewley et al. [4]; Kalman [2]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ByteTrack: asociar toda detección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777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Ronda 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tracks × detecciones D_alta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926080" y="118872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77724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777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Ronda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tracks sin pareja × D_baja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(solo IoU)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18872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217920" y="777240"/>
            <a:ext cx="2560320" cy="822960"/>
          </a:xfrm>
          <a:prstGeom prst="roundRect">
            <a:avLst>
              <a:gd name="adj" fmla="val 13333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777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Tracks nuevos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D_alta sin pareja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(confianza ≥ 0,25)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1828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grupos de detecciones según su confianza s</a:t>
            </a:r>
            <a:endParaRPr lang="en-US" sz="1400" dirty="0"/>
          </a:p>
        </p:txBody>
      </p:sp>
      <p:pic>
        <p:nvPicPr>
          <p:cNvPr id="12" name="Image 0" descr="bt_hig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148840"/>
            <a:ext cx="5888736" cy="34747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6576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que incorpora la confianza (fuse_score)</a:t>
            </a:r>
            <a:endParaRPr lang="en-US" sz="1400" dirty="0"/>
          </a:p>
        </p:txBody>
      </p:sp>
      <p:pic>
        <p:nvPicPr>
          <p:cNvPr id="14" name="Image 1" descr="bt_f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063240"/>
            <a:ext cx="2374422" cy="3504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08960" y="301752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τ_alta = 0,25 y τ_baja = 0,1 (valores por defecto de Ultralytics)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detección dudosa (sombra, árbol, oclusión parcial) rescata el track en vez de perderlo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adicional casi nulo; sigue sin usar apariencia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[5]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BoT-SORT: compensación del movimiento de cámara</a:t>
            </a:r>
            <a:endParaRPr lang="en-US" sz="2400" dirty="0"/>
          </a:p>
        </p:txBody>
      </p:sp>
      <p:pic>
        <p:nvPicPr>
          <p:cNvPr id="3" name="Image 0" descr="/home/marcelino.maita/courses/deep_learning/practica-4/presentacion/fig/gmc_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4754880" cy="2505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3101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M0801, frames 50 → 55. Verde: fondo. Rojo: vehículos en movimiento.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349240" y="82296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Esquinas (Shi–Tomasi) seguidas con flujo óptico de Lucas–Kanade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RANSAC ajusta A: aquí t = (18,6; −21,4) px y giro de 2,6° en 5 frames (236 de 296 puntos son inliers)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corrige la media y la covarianza de cada track antes de asociar</a:t>
            </a:r>
            <a:endParaRPr lang="en-US" sz="1250" dirty="0"/>
          </a:p>
        </p:txBody>
      </p:sp>
      <p:pic>
        <p:nvPicPr>
          <p:cNvPr id="6" name="Image 1" descr="gmc_p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94760"/>
            <a:ext cx="3347285" cy="298218"/>
          </a:xfrm>
          <a:prstGeom prst="rect">
            <a:avLst/>
          </a:prstGeom>
        </p:spPr>
      </p:pic>
      <p:pic>
        <p:nvPicPr>
          <p:cNvPr id="7" name="Image 2" descr="gmc_co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794760"/>
            <a:ext cx="3144622" cy="30403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Aharon et al. [6]; flujo óptico y RANSAC con OpenCV. R rota cada par (posición, velocidad) del estado (x, y, w, h)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Apariencia (embeddings) frente a geometría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4663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Situación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Qué le pasa a la geometría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Oclusión larga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 Kalman deriva y el track se pierde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Vehículos que se cruzan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 IoU es ambiguo entre dos tracks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Cámara en movimiento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 predicción queda desplazada (GMC)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Detección intermitente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 track muere y reaparece con otro ID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2578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de apariencia (BoT-SORT)</a:t>
            </a:r>
            <a:endParaRPr lang="en-US" sz="1400" dirty="0"/>
          </a:p>
        </p:txBody>
      </p:sp>
      <p:pic>
        <p:nvPicPr>
          <p:cNvPr id="5" name="Image 0" descr="c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97280"/>
            <a:ext cx="2826077" cy="521208"/>
          </a:xfrm>
          <a:prstGeom prst="rect">
            <a:avLst/>
          </a:prstGeom>
        </p:spPr>
      </p:pic>
      <p:pic>
        <p:nvPicPr>
          <p:cNvPr id="6" name="Image 1" descr="fus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783080"/>
            <a:ext cx="2180387" cy="364846"/>
          </a:xfrm>
          <a:prstGeom prst="rect">
            <a:avLst/>
          </a:prstGeom>
        </p:spPr>
      </p:pic>
      <p:pic>
        <p:nvPicPr>
          <p:cNvPr id="7" name="Image 2" descr="e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331720"/>
            <a:ext cx="3368622" cy="301779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457200" y="33375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apariencia re-identifica tras una oclusión larga, pero exige un embedding por detección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vista aérea los vehículos miden unas decenas de píxeles y muchos son parecidos: el embedding puede discriminar poco (hipótesis)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Aquí: BoT-SORT con GMC y sin ReID (with_reid = False). Comparamos geometría pura (SORT, ByteTrack) con geometría + GMC; ReID queda como extensión</a:t>
            </a:r>
            <a:endParaRPr lang="en-US" sz="1200" dirty="0"/>
          </a:p>
        </p:txBody>
      </p:sp>
      <p:sp>
        <p:nvSpPr>
          <p:cNvPr id="9" name="Text 3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BoT-SORT [6]; embeddings f normalizados, e: promedio móvil por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SAHI: detección por slices</a:t>
            </a:r>
            <a:endParaRPr lang="en-US" sz="2400" dirty="0"/>
          </a:p>
        </p:txBody>
      </p:sp>
      <p:pic>
        <p:nvPicPr>
          <p:cNvPr id="3" name="Image 0" descr="/home/marcelino.maita/courses/deep_learning/practica-4/presentacion/fig/sahi_sli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68680"/>
            <a:ext cx="5120640" cy="2697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6301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usada: slices de 640 px con 20 % de solape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9144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 el frame en recuadros solapados y detecta en cada uno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vehículos pequeños ganan tamaño relativo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fusionan los duplicados (GREEDYNMM, IOS 0,5)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varias inferencias por frame, además de la pasada completa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Akyon et al. [7]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SAHI: ampliación y costo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280160"/>
                <a:gridCol w="23774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Slice 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Solape 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Slices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Inferencias por frame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Ampliación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640 px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1,6×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 px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2,1×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320 px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3,2×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320 px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3,2×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de 1024 × 540, imgsz = 1024. Inferencias = slices + 1 (pasada sobre la imagen completa). Conteo con sahi.slicing.</a:t>
            </a:r>
            <a:endParaRPr lang="en-US" sz="1100" dirty="0"/>
          </a:p>
        </p:txBody>
      </p:sp>
      <p:pic>
        <p:nvPicPr>
          <p:cNvPr id="5" name="Image 0" descr="nsl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08960"/>
            <a:ext cx="4495830" cy="594360"/>
          </a:xfrm>
          <a:prstGeom prst="rect">
            <a:avLst/>
          </a:prstGeom>
        </p:spPr>
      </p:pic>
      <p:pic>
        <p:nvPicPr>
          <p:cNvPr id="6" name="Image 1" descr="zo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3154680"/>
            <a:ext cx="2749326" cy="527334"/>
          </a:xfrm>
          <a:prstGeom prst="rect">
            <a:avLst/>
          </a:prstGeom>
        </p:spPr>
      </p:pic>
      <p:pic>
        <p:nvPicPr>
          <p:cNvPr id="7" name="Image 2" descr="i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86200"/>
            <a:ext cx="4352087" cy="584882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394960" y="39319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crece con el número de inferencias; la ganancia depende de la ampliación.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a ajustar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Parámetro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Qué controla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 inicial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 (detector)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Umbral de confianza de las detecciones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 (0,1 con ByteTrack y BoT-SORT)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min_hits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Detecciones para confirmar un track (SORT)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max_age / track_buffer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Frames que sobrevive un track perdido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iou / match_thresh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Umbral de emparejamiento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 (SORT) · 0,8 (ByteTrack, BoT-SORT)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track_high / track_low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Umbrales de las dos rondas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 / 0,1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gmc_method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Compensación de cámara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sparseOptFlow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slice / overlap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Tamaño y solape de los recuadros SAHI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640 px / 0,2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Heurística adicional: fusión de detectores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18288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777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YOLO26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(UAVDT)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94560" y="114300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60320" y="777240"/>
            <a:ext cx="18288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777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RT-DETRv4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(VisDrone)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14300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754880" y="777240"/>
            <a:ext cx="1828800" cy="731520"/>
          </a:xfrm>
          <a:prstGeom prst="roundRect">
            <a:avLst>
              <a:gd name="adj" fmla="val 15000"/>
            </a:avLst>
          </a:prstGeom>
          <a:solidFill>
            <a:srgbClr val="DCE6F5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777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cajas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143000"/>
            <a:ext cx="365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949440" y="777240"/>
            <a:ext cx="18288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95160" y="777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ByteTrack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28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 sigue el criterio de anotación de UAVDT; RT-DETR recupera vehículos en vistas oblicuas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agrupan cajas de ambos con IoU ≥ 0,55 y se promedian ponderadas por su confianza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caja que ve un solo modelo queda con la mitad de confianza: hace falta consenso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entrenamiento: solo combina pesos preentrenados, y se ajusta el tracker igual que en los demás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fusionada</a:t>
            </a:r>
            <a:endParaRPr lang="en-US" sz="1400" dirty="0"/>
          </a:p>
        </p:txBody>
      </p:sp>
      <p:pic>
        <p:nvPicPr>
          <p:cNvPr id="16" name="Image 0" descr="fuse_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2103120"/>
            <a:ext cx="1237156" cy="927229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30352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(M modelos)</a:t>
            </a:r>
            <a:endParaRPr lang="en-US" sz="1400" dirty="0"/>
          </a:p>
        </p:txBody>
      </p:sp>
      <p:pic>
        <p:nvPicPr>
          <p:cNvPr id="18" name="Image 1" descr="fuse_sco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566160"/>
            <a:ext cx="2271370" cy="61450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Inspirada en Weighted Boxes Fusion [18]; implementación propia (scripts/fuse_cache.py)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evaluación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motmetrics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Emparejamiento por IoU ≥ 0,5, como el toolkit oficial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ignoran las regiones marcadas en el GT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sobre las 20 secuencias de test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051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</a:t>
            </a:r>
            <a:endParaRPr lang="en-US" sz="1400" dirty="0"/>
          </a:p>
        </p:txBody>
      </p:sp>
      <p:pic>
        <p:nvPicPr>
          <p:cNvPr id="5" name="Image 0" descr="mo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960120"/>
            <a:ext cx="3008376" cy="53647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389120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IDF1</a:t>
            </a:r>
            <a:endParaRPr lang="en-US" sz="1400" dirty="0"/>
          </a:p>
        </p:txBody>
      </p:sp>
      <p:pic>
        <p:nvPicPr>
          <p:cNvPr id="7" name="Image 1" descr="idf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83080"/>
            <a:ext cx="3279678" cy="5425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9120" y="3474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</a:t>
            </a:r>
            <a:endParaRPr lang="en-US" sz="1400" dirty="0"/>
          </a:p>
        </p:txBody>
      </p:sp>
      <p:pic>
        <p:nvPicPr>
          <p:cNvPr id="9" name="Image 2" descr="fp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383280"/>
            <a:ext cx="1676370" cy="5608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2606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39496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veces que un vehículo cambia de identificador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389120" y="40233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 penaliza errores de detección y de identidad; IDF1 mide cuánto se conserva el mismo ID a lo largo del video.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Bernardin y Stiefelhagen [15]; Ristani et al. [16]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los cuatro métodos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822960"/>
                <a:gridCol w="11887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IDF1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FPS (GPU)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 (val. cruzada)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  YOLOv11 + SORT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0,478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0,643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1 141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0,460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 YOLO26 + ByteTrack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0,498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  RT-DETRv4 + BoT-SORT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0,684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  SAHI + YOLO26 + ByteTrack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0,473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0,691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162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947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sobre las 20 secuencias de test, con hiperparámetros ajustados por validación cruzada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Resaltado: mejor valor de cada columna. FPS medido en GPU sobre 5 secuencias, con valores por defecto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los métodos 1, 2 y 4 hay ≈ 0,02 de MOTA: dentro del ruido entre secuencias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por secuencia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685800"/>
          <a:ext cx="8595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del ajuste: validación cruzada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05840"/>
                <a:gridCol w="3566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 defecto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Ajustado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Parámetros finales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  YOLOv11 + SORT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 0,25 · min_hits 5 · iou 0,5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 YOLO26 + ByteTrack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alta 0,75 · baja 0,05 · buffer 60 · match 0,7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  RT-DETRv4 + BoT-SORT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−1,128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alta 0,75 · baja 0,40 · buffer 60 · match 0,8 · sin GMC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  SAHI + YOLO26 + ByteTrack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alta 0,70 · baja 0,15 · buffer 60 · match 0,8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Fusión YOLO26 + RT-DETR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alta 0,65 · baja 0,20 · buffer 30 · match 0,8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93192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 en secuencias no vistas al ajustar: 4 pliegues de 5 secuencias (se ajusta con 15 y se mide en 5)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RT-DETR y SAHI cambian mucho: por defecto dejan pasar demasiados falsos positivos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SORT el ajuste no ayuda: ya estaba cerca de su óptimo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Latencia: con y sin NMS en YOLO26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371600"/>
                <a:gridCol w="731520"/>
                <a:gridCol w="822960"/>
                <a:gridCol w="7315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Configuración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Detección (ms/frame)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Asociación (ms/frame)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FPS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+ ByteTrack, con NMS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+ ByteTrack, sin NMS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5661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el NMS reduce la latencia de detección en 19 % (30,4 → 24,6 ms) sin perder precisión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y FPS: GPU, 5 secuencias. MOTA e IDS: 20 secuencias, valores por defecto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de SAHI en vehículos pequeños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55448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Tamaño (√área)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(por defecto)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+ SAHI (por defecto)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(ajustado)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+ SAHI (ajustado)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Pequeño (&lt; 18 px)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Mediano (18 a 28 px)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0,688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DE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Grande (&gt; 28 px)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sube el recall de los pequeños en 4,7 puntos por defecto y 6,4 puntos ajustado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cuatro veces menos FPS (9,1 frente a 39,0) y más falsos positivos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los umbrales para MOTA baja el recall de los pequeños: se descartan detecciones de baja confianza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360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 detección (IoU ≥ 0,5, sin mirar IDs) sobre las 20 secuencias; cortes = terciles de tamaño del GT. Akyon et al. [7]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con slices más finos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1097280"/>
                <a:gridCol w="1188720"/>
                <a:gridCol w="118872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Configuración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IDF1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FN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FP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Recall pequeño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YOLO26 solo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26 196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4 317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0,349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SAHI 640 / 0,2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26 482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3 824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SAHI 320 / 0,2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0,540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24 982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4 773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52044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secuencias con más vehículos pequeños (M0602, M0601, M1301, M1004, M1302), primeros 300 frames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 de 320 px (ampliación 3,2×): mejora modesta en MOTA y casi nada en el recall de pequeños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Hipótesis: con estos pesos, vehículos de ≈ 12 px quedan por debajo de lo que el detector resuelve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Heurística adicional: resultados de la fusión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822960"/>
                <a:gridCol w="1005840"/>
                <a:gridCol w="1188720"/>
                <a:gridCol w="109728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IDF1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FN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Recall pequeño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MOTA (val. cruzada)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FPS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 YOLO26 + ByteTrack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0,498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134 467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  RT-DETRv4 + BoT-SORT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112 837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Fusión YOLO26 + RT-DETR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90 953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0,529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≈ 13,1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00400"/>
            <a:ext cx="8321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MOTA en 10 de 20 secuencias y mejora al método 2 en 15 de 20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la precisión de YOLO26 con el recall de RT-DETR (mejor en vistas oblicuas como M0209)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dos detectores. FPS estimado a partir de las latencias medidas de cada uno; no se midió directamente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de noche (M1007, M1101): suma los falsos positivos de ambos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funciona mejor el seguimiento?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48640"/>
                <a:gridCol w="1188720"/>
                <a:gridCol w="1188720"/>
                <a:gridCol w="1188720"/>
                <a:gridCol w="118872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 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 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 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Método 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Fusión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vista cenital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baja altura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día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altura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vista lateral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niebla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noche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vista frontal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gran altura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148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 promedio por tipo de escena. Los vehículos grandes y la vista cenital favorecen a todos; la noche, la vista frontal y los vehículos de ≈ 12 px los perjudican. La densidad de tráfico casi no influye.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visual: caso exitoso</a:t>
            </a:r>
            <a:endParaRPr lang="en-US" sz="2400" dirty="0"/>
          </a:p>
        </p:txBody>
      </p:sp>
      <p:pic>
        <p:nvPicPr>
          <p:cNvPr id="3" name="Image 0" descr="M0403 con IDs y est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8412480" cy="2779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611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M0403, frames 100, 130 y 160. YOLO26 + ByteTrack ajustado. Cada color es un ID; la línea es su estela de 25 frames.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IDs se mantienen en una escena densa (≈ 60 vehículos): los dos buses y los autos del carril central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 0,90 en esta secuencia con los cuatro métodos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visual: caso de fallo (M0209)</a:t>
            </a:r>
            <a:endParaRPr lang="en-US" sz="2400" dirty="0"/>
          </a:p>
        </p:txBody>
      </p:sp>
      <p:pic>
        <p:nvPicPr>
          <p:cNvPr id="3" name="Image 0" descr="Comparación en M020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658368"/>
            <a:ext cx="7223760" cy="35844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2976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M0209 (peaje, vista oblicua). YOLO26 pierde casi todos los vehículos (rojo); RT-DETR y la fusión los detectan, a costa de falsos positivos en las casetas (naranja).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visual: caso de fallo (noche, M1101)</a:t>
            </a:r>
            <a:endParaRPr lang="en-US" sz="2400" dirty="0"/>
          </a:p>
        </p:txBody>
      </p:sp>
      <p:pic>
        <p:nvPicPr>
          <p:cNvPr id="3" name="Image 0" descr="Comparación en M1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658368"/>
            <a:ext cx="7223760" cy="35844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2976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M1101 (noche). Los tres métodos detectan bien los vehículos de la calzada, pero suman falsos positivos: autos aparcados y luces que el GT no anota. MOTA: −0,13 / −0,51 / −0,42.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8046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equilibrio entre los cuatro métodos: YOLO26 + ByteTrack (MOTA 0,498, 86 cambios de ID, 39 FPS)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los hiperparámetros pesó más que la arquitectura: con validación cruzada, RT-DETR pasó de MOTA −1,13 a 0,40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 cambia mucho menos de ID que SORT: 86 frente a 1 141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mejora algo el recall de vehículos pequeños, pero cuesta ≈ 4× en latencia; los slices de 320 px aportan poco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Heurística adicional: fusionar YOLO26 y RT-DETR da el mayor MOTA (0,549) e IDF1 (0,754), con dos detectores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Limitaciones: split de entrenamiento de los pesos YOLO sin verificar, sin ReID, y mucha variación entre escenas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3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(1/2)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D. Du et al., “The Unmanned Aerial Vehicle Benchmark: Object Detection and Tracking,” in ECCV,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R. E. Kalman, “A new approach to linear filtering and prediction problems,” J. Basic Eng., vol. 82, no. 1, 1960.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H. W. Kuhn, “The Hungarian method for the assignment problem,” Naval Research Logistics Quarterly, vol. 2, 1955.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Bewley, Z. Ge, L. Ott, F. Ramos, and B. Upcroft, “Simple online and realtime tracking,” in ICIP, 2016.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Y. Zhang et al., “ByteTrack: Multi-object tracking by associating every detection box,” in ECCV, 2022.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N. Aharon, R. Orfaig, and B.-Z. Bobrovsky, “BoT-SORT: Robust associations multi-pedestrian tracking,” arXiv:2206.14651, 2022.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F. C. Akyon, S. O. Altinuc, and A. Temizel, “Slicing aided hyper inference and fine-tuning for small object detection,” in ICIP, 2022.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N. Carion et al., “End-to-end object detection with transformers,” in ECCV, 2020.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A. Vaswani et al., “Attention is all you need,” in NeurIPS, 2017.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82880" y="3657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(2/2)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W. Lv et al., “RT-DETR: DETRs beat YOLOs on real-time object detection,” in CVPR, 2024.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Y. Peng et al., “D-FINE: Redefine regression task in DETRs as fine-grained distribution refinement,” arXiv:2410.13842, 2024.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Z. Liao et al., “RT-DETRv4: Painlessly furthering real-time object detection with vision foundation models,” arXiv:2510.25257,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G. Jocher and J. Qiu, “Ultralytics YOLO11,” 2024; Ultralytics, “YOLO26,” docs.ultralytics.com/models/yolo26,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P. Zhu et al., “Detection and tracking meet drones challenge,” IEEE TPAMI,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K. Bernardin and R. Stiefelhagen, “Evaluating multiple object tracking performance: The CLEAR MOT metrics,” EURASIP J. Image Video Process., 2008.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E. Ristani, F. Solera, R. Zou, R. Cucchiara, and C. Tomasi, “Performance measures and a data set for multi-target, multi-camera tracking,” in ECCV Workshops, 2016.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A. Milan, L. Leal-Taixé, I. Reid, S. Roth, and K. Schindler, “MOT16: A benchmark for multi-object tracking,” arXiv:1603.00831, 2016.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R. Solovyev, W. Wang, and T. Gabruseva, “Weighted boxes fusion: Ensembling boxes from different object detection models,” Image and Vision Computing, 2021.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365760" cy="2057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4B556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EC Vision">
  <a:themeElements>
    <a:clrScheme name="UTEC Vision">
      <a:dk1>
        <a:srgbClr val="1A1A1A"/>
      </a:dk1>
      <a:lt1>
        <a:srgbClr val="FFFFFF"/>
      </a:lt1>
      <a:dk2>
        <a:srgbClr val="1B3A66"/>
      </a:dk2>
      <a:lt2>
        <a:srgbClr val="E9EBF7"/>
      </a:lt2>
      <a:accent1>
        <a:srgbClr val="1B3A66"/>
      </a:accent1>
      <a:accent2>
        <a:srgbClr val="FFC04D"/>
      </a:accent2>
      <a:accent3>
        <a:srgbClr val="2E7D32"/>
      </a:accent3>
      <a:accent4>
        <a:srgbClr val="C62828"/>
      </a:accent4>
      <a:accent5>
        <a:srgbClr val="5B7DB1"/>
      </a:accent5>
      <a:accent6>
        <a:srgbClr val="8A8F98"/>
      </a:accent6>
      <a:hlink>
        <a:srgbClr val="1B3A66"/>
      </a:hlink>
      <a:folHlink>
        <a:srgbClr val="5B7DB1"/>
      </a:folHlink>
    </a:clrScheme>
    <a:fontScheme name="UTEC Vis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y tracking de vehículos con drones</dc:title>
  <dc:subject>PptxGenJS Presentation</dc:subject>
  <dc:creator>Visión por Computador</dc:creator>
  <cp:lastModifiedBy>Visión por Computador</cp:lastModifiedBy>
  <cp:revision>1</cp:revision>
  <dcterms:created xsi:type="dcterms:W3CDTF">2026-10-11T16:16:19Z</dcterms:created>
  <dcterms:modified xsi:type="dcterms:W3CDTF">2026-10-11T16:16:19Z</dcterms:modified>
</cp:coreProperties>
</file>